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7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73" r:id="rId13"/>
    <p:sldId id="272" r:id="rId14"/>
    <p:sldId id="271" r:id="rId15"/>
    <p:sldId id="269" r:id="rId16"/>
    <p:sldId id="267" r:id="rId17"/>
    <p:sldId id="275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2:24:32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81 24575,'0'0'0,"0"0"0,0 0 0,0 0 0,0 0 0,0 0 0,0 0 0,0 0 0,1 0 0,-1 0 0,0 0 0,0 0 0,0 0 0,0 0 0,0 0 0,0 0 0,0 0 0,0 0 0,0 1 0,0-1 0,0 0 0,0 0 0,0 0 0,0 0 0,0 0 0,0 0 0,0 0 0,0 0 0,0 0 0,0 0 0,0 0 0,0 0 0,0 0 0,0 0 0,0 1 0,0-1 0,0 0 0,0 0 0,0 0 0,0 0 0,0 0 0,0 0 0,0 0 0,0 0 0,0 0 0,0 0 0,-1 0 0,1 0 0,0 0 0,0 0 0,0 0 0,0 0 0,0 0 0,0 0 0,0 0 0,0 0 0,0 1 0,0-1 0,0 0 0,0 0 0,0 0 0,0 0 0,-1 0 0,1 0 0,0 0 0,0 0 0,8 7 0,-7-7 0,0 1 0,0-1 0,0 1 0,0-1 0,0 1 0,-1 0 0,1-1 0,0 1 0,0 0 0,0 0 0,-1-1 0,1 1 0,-1 0 0,1 0 0,-1 0 0,1 0 0,-1 0 0,1 0 0,-1 0 0,0 0 0,1 0 0,-1 0 0,0 1 0,-1-1 0,0-1 0,1 0 0,-1 0 0,0 0 0,0 1 0,0-1 0,0 0 0,0 0 0,0 0 0,0 0 0,1-1 0,-1 1 0,0 0 0,0 0 0,0 0 0,0-1 0,0 1 0,1 0 0,-1-1 0,0 1 0,0-1 0,0 1 0,1-1 0,-1 1 0,0-1 0,0-1 0,-19-15 0,18 14 0,0 1 0,0-1 0,1 1 0,0-1 0,-1 0 0,1 1 0,0-1 0,0 0 0,0 0 0,1 0 0,-1 0 0,1 0 0,-1 0 0,1 0 0,0 0 0,0 0 0,1 0 0,-1 0 0,1-3 0,0 5 0,-1-1 0,1 1 0,-1-1 0,1 1 0,0-1 0,-1 1 0,1 0 0,0-1 0,0 1 0,0 0 0,0 0 0,0-1 0,1 1 0,-1 0 0,0 0 0,0 0 0,1 1 0,-1-1 0,1 0 0,-1 0 0,1 1 0,-1-1 0,1 1 0,-1-1 0,1 1 0,-1 0 0,1-1 0,-1 1 0,1 0 0,0 0 0,-1 0 0,1 0 0,-1 1 0,1-1 0,2 1 0,-3-1 0,-1 0 0,0 0 0,1 0 0,-1 0 0,1 0 0,-1 0 0,1 0 0,-1 0 0,1 0 0,-1 0 0,1 0 0,-1 0 0,0 0 0,1 1 0,-1-1 0,1 0 0,-1 0 0,1 0 0,-1 1 0,0-1 0,1 0 0,-1 1 0,0-1 0,1 0 0,-1 1 0,0-1 0,0 0 0,1 1 0,-1-1 0,0 1 0,0-1 0,1 0 0,-1 1 0,0-1 0,0 1 0,0-1 0,0 1 0,0-1 0,0 1 0,0-1 0,0 0 0,0 1 0,0-1 0,0 1 0,0-1 0,0 1 0,0-1 0,0 1 0,0-1 0,-1 1 0,1-1 0,0 0 0,0 1 0,-1-1 0,1 1 0,-2 1 0,1-1 0,0 1 0,-1-1 0,1 1 0,-1-1 0,0 0 0,1 0 0,-1 0 0,0 0 0,0 0 0,-2 1 0,-19 1 0,20-3 0,0 1 0,0-1 0,0 0 0,0 1 0,0-1 0,0 1 0,0 0 0,0 0 0,-4 2 0,7-1 0,0 0 0,-1-1 0,1 1 0,0 0 0,0 0 0,1-1 0,-1 1 0,0 0 0,0-1 0,1 1 0,-1-1 0,1 1 0,0 0 0,1 2 0,1 5 0,-3-8 0,0 1 0,0 0 0,-1 0 0,1-1 0,0 1 0,-1 0 0,1 0 0,-1-1 0,1 1 0,-1-1 0,0 1 0,0-1 0,0 1 0,-1 1 0,2-2 0,-1-1 0,1 1 0,0-1 0,-1 1 0,1-1 0,0 1 0,-1-1 0,1 1 0,-1-1 0,1 0 0,-1 1 0,1-1 0,-1 0 0,1 1 0,-1-1 0,0 0 0,1 0 0,-1 1 0,1-1 0,-1 0 0,0 0 0,1 0 0,-1 0 0,1 0 0,-1 0 0,0 0 0,1 0 0,-1 0 0,0 0 0,1 0 0,-1 0 0,1 0 0,-1-1 0,0 1 0,1 0 0,-1 0 0,1-1 0,-1 1 0,1 0 0,-2-1 0,34 12 0,-11 12-32,-14-13-1301,1 0-5493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2:24:37.81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11 0 24575,'-3'0'0,"-5"0"0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2:24:38.9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2:24:39.44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2:24:40.32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2:24:43.36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2:24:46.46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084C2E7-41EC-4316-7C67-A6FD2FDA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D3A51C64-5D4C-B140-B747-B8430E8FF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5B0327E0-64C4-2086-601E-4D5C779CA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8984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71D78906-1877-DB69-6B57-57160F8A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DE46DF7A-585C-A63D-2E92-C1D34D64D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B3E03681-304F-E9E4-845B-3E527C7A19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344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A0699C8-13EA-20A7-27C5-1D65E32C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7D7CDDA8-CAC1-BD09-0FA5-60AFE2304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7A0DE317-726F-A7B6-2E73-15F4ECEDC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334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9BDEC0F-4DB2-2853-0CA4-399D588A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7F543FA7-8260-C41E-62EB-BEAE69649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1E24EC6D-DC32-E037-4F73-A36B0C672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4847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1E81A49D-A9BA-6AAC-8D34-7B4CD466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4A0C51BC-BB62-E37C-64B0-CA6F40FAC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2B39C37D-C6DD-A07D-E984-E31EB2E51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645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03C87AF-59C9-D911-1C91-276C1447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B7C7EE15-719C-9837-58E8-F1CA507AB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D2CB6553-0BEA-95CC-1714-9E55BA3A2D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29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F0329894-5902-536E-A1C7-BA39A7403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C237F3DD-CD03-C3DF-36C6-10431333C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3A5A6682-FE46-98A8-7857-BB71DE1901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257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29B8584-EF6B-F544-DC26-686EE287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97854498-FC82-7B60-DB4C-E20F6A6A2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7E4845E6-3F3C-0A9B-C5C8-6A3C80815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072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72CB38B-758B-58BD-24A0-514B4818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8B301B6C-2025-7ED1-8420-826118B9B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B1AE302D-C5CB-A794-F0E0-06C13B4E66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7901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5209F01-DA39-1440-710C-F75E1899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707F89F9-DD8F-E381-1495-486201B40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7BED9D0C-CA9F-F450-629F-2C7F5FF01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42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D48FB-FED2-DBF8-EDD5-A5185AC23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F2A34C-1C9E-2800-4F7E-047F58316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4CF8F1-2BE7-0C6F-4E8C-5262CCAA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5B2317-384E-CA6E-147F-FED22D5A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D91241-95FB-6B48-C26B-F15967BB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1082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D74876-0234-4BDC-E71A-BD5BD595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C090C9-A0CD-87FB-6E13-E3D8747D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E63BC4-D946-4286-A95C-75455515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ADD537-BAD4-B0E5-AD03-D11907A54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C28F7-0D2C-C921-C8BE-53D97FEF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4473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0AF83-CA6F-F560-2AC9-607C78B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1D2C35-1922-D88B-C894-CAB11036A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12E96E-53B1-97D2-BAA6-55107098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6D58ED-87D0-91F0-A47A-B049FAC8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7114BE-5814-97C3-34D6-0ABC3C45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1556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B2AFA-5770-2998-7442-D8D0C9D2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1F75AF-CACE-269D-431B-F90C0D9EB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6487FA-20DB-A199-530E-6614C55F4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8999D0-61AA-C780-DFBE-B0704996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BE013A-5761-F9DC-BF76-1E6E9DD0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355436-9D89-4144-2A53-5C9FC74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90068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C9E01-E0C9-7529-B3D5-0DA07EA4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3A3C50-2BEC-FA9A-A1CF-A4E19DDFD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2FD93C-FE21-5363-5EA0-CB6826B4F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40CC21-D725-0BF4-D506-4B739326E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958A1A6-7D7A-617D-E3FD-6BEFF9715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09AB34E-18DE-1657-85BD-E863CBB0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5C6FB47-F760-80FE-8CD0-A63A3902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8E04BC1-DE93-1C1F-4CFA-D1237DB1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13524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4AC0C6-0B7A-5EA4-7492-267DDECC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9EF18FE-DBD7-CEDE-16FD-9B89BBF2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F4A12-BB22-512F-2776-5840A9DA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BBF367-EEA4-798D-0DD5-913DE556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51731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95E0BF4-9AA8-A589-BE1C-9E40EC02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4C6424-E7FE-61AD-6EEF-27F9A5F2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EE3FB8-852D-D287-7FBD-16F1C27D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9508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E14B2D-971F-6F40-9B00-C010D221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19D813-AA8B-89C0-D471-8811F1448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5C3FFC-8459-DEAE-E763-C12A39AF3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9212C4-DE16-293B-62B9-CF7C6ADA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EBEA92-D7C8-378F-23F6-1A15B0435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73FFAA-B6CF-6729-0415-336808905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6997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86A9C6-A597-7204-C2C3-04EE6B8A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E0A3E8-C404-9B4A-1808-D47D8E3DD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6786F2-F0F2-605F-9CC1-90A4499B4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4262B4-D152-0F74-2CDD-BD572C83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F849BF-9FB9-60BE-84C0-B95BEED6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635C58-4408-C1DC-D921-E9B070CF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14730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BE2285-BBDE-272B-9BC9-26981A15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D6277A-BD23-FBD3-DC08-01C78219F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274B44-9AA1-7BF6-1613-82BE4F49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268DD3-7E61-6FD0-57F9-85F8235E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1D2F24-C578-3203-F526-5858DD0A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0579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6ADBC7-BA89-8BA5-D4B0-14B2989F0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6BF157-C051-9A63-DF0D-063EBC36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CA4EEF-12C9-D02B-D9A2-F0F6EF5D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2E9458-D93F-E659-E226-C24D4773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DD22CF-63E9-76C1-486B-1D82C229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9845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43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DB060B-C04E-2D33-8AA8-F62B7401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92DBFE-9359-B7E7-7D61-D869C1624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A12691-CF08-4864-3BBD-B4E05F737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1E21CC-E8A0-BD4C-85DB-1DCD66AD1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D76AE7-2C74-7486-0A59-9623F1E78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841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7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customXml" Target="../ink/ink5.xml"/><Relationship Id="rId5" Type="http://schemas.openxmlformats.org/officeDocument/2006/relationships/image" Target="../media/image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2540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80348" y="109992"/>
            <a:ext cx="8149583" cy="848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85000" lnSpcReduction="10000"/>
          </a:bodyPr>
          <a:lstStyle/>
          <a:p>
            <a:pPr lvl="0" algn="ctr">
              <a:buClr>
                <a:srgbClr val="000000"/>
              </a:buClr>
              <a:buSzPct val="100000"/>
            </a:pPr>
            <a:r>
              <a:rPr lang="fr-FR" sz="5400" dirty="0"/>
              <a:t>Audit et Analyse de Performance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822979" y="4115245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Rémy D’ AURA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822979" y="44993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FC7146F-05C7-91A0-C974-21B20E2A2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616" y="1342419"/>
            <a:ext cx="4740767" cy="24586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0" y="1390200"/>
            <a:ext cx="91440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600" b="1" dirty="0"/>
              <a:t>1. Le Contexte (Volumétrie)</a:t>
            </a:r>
            <a:endParaRPr lang="fr-FR" sz="1600" dirty="0"/>
          </a:p>
          <a:p>
            <a:pPr marL="114300" indent="0">
              <a:buNone/>
            </a:pPr>
            <a:r>
              <a:rPr lang="fr-FR" sz="1600" dirty="0"/>
              <a:t>-Un catalogue complexe de </a:t>
            </a:r>
            <a:r>
              <a:rPr lang="fr-FR" sz="1600" b="1" dirty="0"/>
              <a:t>825 références</a:t>
            </a:r>
            <a:r>
              <a:rPr lang="fr-FR" sz="1600" dirty="0"/>
              <a:t> (dont </a:t>
            </a:r>
            <a:r>
              <a:rPr lang="fr-FR" sz="1600" b="1" dirty="0"/>
              <a:t>714 actives</a:t>
            </a:r>
            <a:r>
              <a:rPr lang="fr-FR" sz="1600" dirty="0"/>
              <a:t>).</a:t>
            </a:r>
          </a:p>
          <a:p>
            <a:pPr marL="114300" indent="0">
              <a:buNone/>
            </a:pPr>
            <a:r>
              <a:rPr lang="fr-FR" sz="1600" dirty="0"/>
              <a:t>-Un volume de données qui dépasse le stade de la simple gestion manuelle.</a:t>
            </a:r>
          </a:p>
          <a:p>
            <a:pPr marL="114300" indent="0">
              <a:buNone/>
            </a:pPr>
            <a:endParaRPr lang="fr-FR" sz="1600" dirty="0"/>
          </a:p>
          <a:p>
            <a:r>
              <a:rPr lang="fr-FR" sz="1600" b="1" dirty="0"/>
              <a:t>2. Le Problème Structurel (Les Silos)</a:t>
            </a:r>
            <a:endParaRPr lang="fr-FR" sz="1600" dirty="0"/>
          </a:p>
          <a:p>
            <a:pPr marL="114300" indent="0">
              <a:buNone/>
            </a:pPr>
            <a:r>
              <a:rPr lang="fr-FR" sz="1600" b="1" dirty="0"/>
              <a:t>-Données Éclatées </a:t>
            </a:r>
            <a:r>
              <a:rPr lang="fr-FR" sz="1600" dirty="0"/>
              <a:t> </a:t>
            </a:r>
          </a:p>
          <a:p>
            <a:pPr marL="114300" indent="0">
              <a:buNone/>
            </a:pPr>
            <a:r>
              <a:rPr lang="fr-FR" sz="1600" b="1" dirty="0"/>
              <a:t>-Absence de Centralisation</a:t>
            </a:r>
          </a:p>
          <a:p>
            <a:pPr marL="114300" indent="0">
              <a:buNone/>
            </a:pPr>
            <a:endParaRPr lang="fr-FR" sz="1600" dirty="0"/>
          </a:p>
          <a:p>
            <a:r>
              <a:rPr lang="fr-FR" sz="1600" b="1" dirty="0"/>
              <a:t>3. Les Conséquences (La "Douleur")</a:t>
            </a:r>
            <a:endParaRPr lang="fr-FR" sz="1600" dirty="0"/>
          </a:p>
          <a:p>
            <a:pPr marL="114300" indent="0">
              <a:buNone/>
            </a:pPr>
            <a:r>
              <a:rPr lang="fr-FR" sz="1600" b="1" dirty="0"/>
              <a:t>-Perte de Temps </a:t>
            </a:r>
            <a:endParaRPr lang="fr-FR" sz="1600" dirty="0"/>
          </a:p>
          <a:p>
            <a:pPr marL="114300" indent="0">
              <a:buNone/>
            </a:pPr>
            <a:r>
              <a:rPr lang="fr-FR" sz="1600" b="1" dirty="0"/>
              <a:t>-Risque d'Erreur Élevé </a:t>
            </a:r>
          </a:p>
          <a:p>
            <a:pPr marL="114300" indent="0">
              <a:buNone/>
            </a:pPr>
            <a:r>
              <a:rPr lang="fr-FR" sz="1600" b="1" dirty="0"/>
              <a:t>-Pilotage à l'Aveugle</a:t>
            </a:r>
            <a:endParaRPr lang="fr-FR" sz="1600" dirty="0"/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64204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La Problématique : Une Gestion "Artisanale" des Données</a:t>
            </a:r>
            <a:endParaRPr sz="25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5915975" y="2571750"/>
            <a:ext cx="2862750" cy="86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indent="0">
              <a:buClr>
                <a:srgbClr val="999999"/>
              </a:buClr>
              <a:buNone/>
            </a:pPr>
            <a:r>
              <a:rPr lang="fr-FR" dirty="0"/>
              <a:t>825 références, 714 références actives</a:t>
            </a: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Unification des Sources de Données</a:t>
            </a:r>
            <a:endParaRPr sz="25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EFDCC9-8EA2-333F-57AE-6FBD734AD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200"/>
            <a:ext cx="5108825" cy="375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b="1" dirty="0">
                <a:solidFill>
                  <a:schemeClr val="bg1"/>
                </a:solidFill>
              </a:rPr>
              <a:t>Bilan du Nettoyage : Une dizaine d’erreurs corrigées</a:t>
            </a:r>
            <a:endParaRPr sz="25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105;g13f9e8f1567_0_7">
            <a:extLst>
              <a:ext uri="{FF2B5EF4-FFF2-40B4-BE49-F238E27FC236}">
                <a16:creationId xmlns:a16="http://schemas.microsoft.com/office/drawing/2014/main" id="{B1C13C19-852A-F0C0-604D-ADB89C770F62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86769DC-EFC3-218C-3B66-EAC10E8B1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058840"/>
              </p:ext>
            </p:extLst>
          </p:nvPr>
        </p:nvGraphicFramePr>
        <p:xfrm>
          <a:off x="0" y="1390200"/>
          <a:ext cx="9144000" cy="3821339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4863822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43414272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49464123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568589856"/>
                    </a:ext>
                  </a:extLst>
                </a:gridCol>
              </a:tblGrid>
              <a:tr h="2079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Source</a:t>
                      </a:r>
                      <a:endParaRPr lang="fr-FR" sz="105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Type d'Anomalie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Détails &amp; Exemples (IDs)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Action Corrective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extLst>
                  <a:ext uri="{0D108BD9-81ED-4DB2-BD59-A6C34878D82A}">
                    <a16:rowId xmlns:a16="http://schemas.microsoft.com/office/drawing/2014/main" val="2167753111"/>
                  </a:ext>
                </a:extLst>
              </a:tr>
              <a:tr h="3385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Fichier ERP</a:t>
                      </a:r>
                      <a:endParaRPr lang="fr-FR" sz="105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Prix Erronés</a:t>
                      </a:r>
                      <a:endParaRPr lang="fr-FR" sz="105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3 Prix de vente négatifs (ex: 4233, 5017, 6594).</a:t>
                      </a: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Suppression / Exclusion.</a:t>
                      </a:r>
                    </a:p>
                  </a:txBody>
                  <a:tcPr marL="50448" marR="50448" marT="33632" marB="33632" anchor="ctr"/>
                </a:tc>
                <a:extLst>
                  <a:ext uri="{0D108BD9-81ED-4DB2-BD59-A6C34878D82A}">
                    <a16:rowId xmlns:a16="http://schemas.microsoft.com/office/drawing/2014/main" val="3400104580"/>
                  </a:ext>
                </a:extLst>
              </a:tr>
              <a:tr h="59975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05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Incohérence Stock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Stocks négatifs (4973, 5700) et incompatibilité statut/qté (ex: "InStock" avec 0 qté).</a:t>
                      </a: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Correction des statuts et remise à zéro des stocks négatifs.</a:t>
                      </a:r>
                    </a:p>
                  </a:txBody>
                  <a:tcPr marL="50448" marR="50448" marT="33632" marB="33632" anchor="ctr"/>
                </a:tc>
                <a:extLst>
                  <a:ext uri="{0D108BD9-81ED-4DB2-BD59-A6C34878D82A}">
                    <a16:rowId xmlns:a16="http://schemas.microsoft.com/office/drawing/2014/main" val="205447164"/>
                  </a:ext>
                </a:extLst>
              </a:tr>
              <a:tr h="46916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Fichier Liaison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Orphelins</a:t>
                      </a:r>
                      <a:endParaRPr lang="fr-FR" sz="105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91 </a:t>
                      </a:r>
                      <a:r>
                        <a:rPr lang="fr-FR" sz="105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id_web</a:t>
                      </a: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sans correspondance dans l'ERP.</a:t>
                      </a: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Exclusion (impossibilité de lier les infos).</a:t>
                      </a:r>
                    </a:p>
                  </a:txBody>
                  <a:tcPr marL="50448" marR="50448" marT="33632" marB="33632" anchor="ctr"/>
                </a:tc>
                <a:extLst>
                  <a:ext uri="{0D108BD9-81ED-4DB2-BD59-A6C34878D82A}">
                    <a16:rowId xmlns:a16="http://schemas.microsoft.com/office/drawing/2014/main" val="2101771917"/>
                  </a:ext>
                </a:extLst>
              </a:tr>
              <a:tr h="46916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Fichier Web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Doublons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714 lignes de type "attachment" (images) pour 714 produits.</a:t>
                      </a: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Filtrage sur </a:t>
                      </a:r>
                      <a:r>
                        <a:rPr lang="fr-FR" sz="105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post_type = product</a:t>
                      </a: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uniquement.</a:t>
                      </a:r>
                    </a:p>
                  </a:txBody>
                  <a:tcPr marL="50448" marR="50448" marT="33632" marB="33632" anchor="ctr"/>
                </a:tc>
                <a:extLst>
                  <a:ext uri="{0D108BD9-81ED-4DB2-BD59-A6C34878D82A}">
                    <a16:rowId xmlns:a16="http://schemas.microsoft.com/office/drawing/2014/main" val="1635344645"/>
                  </a:ext>
                </a:extLst>
              </a:tr>
              <a:tr h="469163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Format &amp; Qualité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Lignes vides (83), ID non standard (13127-1), Bon cadeau hors périmètre.</a:t>
                      </a: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Nettoyage et exclusion du Bon Cadeau.</a:t>
                      </a:r>
                    </a:p>
                  </a:txBody>
                  <a:tcPr marL="50448" marR="50448" marT="33632" marB="33632" anchor="ctr"/>
                </a:tc>
                <a:extLst>
                  <a:ext uri="{0D108BD9-81ED-4DB2-BD59-A6C34878D82A}">
                    <a16:rowId xmlns:a16="http://schemas.microsoft.com/office/drawing/2014/main" val="250751667"/>
                  </a:ext>
                </a:extLst>
              </a:tr>
              <a:tr h="5997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Cohérence Globale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Ventes à Perte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 produits avec Prix Achat &gt; Prix Vente (4355, 6324, 7196, 4864).</a:t>
                      </a: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Identification comme erreurs de saisie probables (ex: 4355 marge très négative).</a:t>
                      </a:r>
                    </a:p>
                  </a:txBody>
                  <a:tcPr marL="50448" marR="50448" marT="33632" marB="33632" anchor="ctr"/>
                </a:tc>
                <a:extLst>
                  <a:ext uri="{0D108BD9-81ED-4DB2-BD59-A6C34878D82A}">
                    <a16:rowId xmlns:a16="http://schemas.microsoft.com/office/drawing/2014/main" val="1883432976"/>
                  </a:ext>
                </a:extLst>
              </a:tr>
              <a:tr h="59975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Problèmes de Jointure</a:t>
                      </a:r>
                      <a:endParaRPr lang="fr-FR" sz="105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Produits "OnSale" absents du Web (ex: 4594, 5070) ou inversement (4200).</a:t>
                      </a:r>
                    </a:p>
                  </a:txBody>
                  <a:tcPr marL="50448" marR="50448" marT="33632" marB="3363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05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Analyse des causes (</a:t>
                      </a:r>
                      <a:r>
                        <a:rPr lang="fr-FR" sz="105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Inner</a:t>
                      </a:r>
                      <a:r>
                        <a:rPr lang="fr-FR" sz="105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r-FR" sz="105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Join</a:t>
                      </a:r>
                      <a:r>
                        <a:rPr lang="fr-FR" sz="105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vs Outer </a:t>
                      </a:r>
                      <a:r>
                        <a:rPr lang="fr-FR" sz="105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Join</a:t>
                      </a:r>
                      <a:r>
                        <a:rPr lang="fr-FR" sz="105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).</a:t>
                      </a:r>
                    </a:p>
                  </a:txBody>
                  <a:tcPr marL="50448" marR="50448" marT="33632" marB="33632" anchor="ctr"/>
                </a:tc>
                <a:extLst>
                  <a:ext uri="{0D108BD9-81ED-4DB2-BD59-A6C34878D82A}">
                    <a16:rowId xmlns:a16="http://schemas.microsoft.com/office/drawing/2014/main" val="25945748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ANOMALIE CRITIQUE N°1 : La Rentabilité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4" name="Google Shape;105;g13f9e8f1567_0_7">
            <a:extLst>
              <a:ext uri="{FF2B5EF4-FFF2-40B4-BE49-F238E27FC236}">
                <a16:creationId xmlns:a16="http://schemas.microsoft.com/office/drawing/2014/main" id="{041A4FFD-05C4-58D8-8ED9-8E9E90A02CC4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B1FFFC2-3334-50A5-A58B-864D90D5DC63}"/>
              </a:ext>
            </a:extLst>
          </p:cNvPr>
          <p:cNvSpPr txBox="1"/>
          <p:nvPr/>
        </p:nvSpPr>
        <p:spPr>
          <a:xfrm>
            <a:off x="207035" y="1551460"/>
            <a:ext cx="471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Objectif :</a:t>
            </a:r>
            <a:r>
              <a:rPr lang="fr-FR" dirty="0"/>
              <a:t> Alerter sur la vente à perte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FA307AE-84A7-7840-5529-B461995E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825" y="2232892"/>
            <a:ext cx="1943371" cy="8668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99A4011-D59C-E854-B6B6-DDCD5DDA8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48" y="2147155"/>
            <a:ext cx="4448796" cy="103837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0248AC8-1A11-D03D-A46E-697460AE1E8D}"/>
              </a:ext>
            </a:extLst>
          </p:cNvPr>
          <p:cNvSpPr txBox="1"/>
          <p:nvPr/>
        </p:nvSpPr>
        <p:spPr>
          <a:xfrm>
            <a:off x="76422" y="3268919"/>
            <a:ext cx="4710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Diagnostic :</a:t>
            </a:r>
            <a:r>
              <a:rPr lang="fr-FR" dirty="0"/>
              <a:t> Erreur de saisie probable sur le Prix d'Achat.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F909878-B15C-6BD3-B4F3-DDFA936943FC}"/>
              </a:ext>
            </a:extLst>
          </p:cNvPr>
          <p:cNvSpPr txBox="1"/>
          <p:nvPr/>
        </p:nvSpPr>
        <p:spPr>
          <a:xfrm>
            <a:off x="4706103" y="3268919"/>
            <a:ext cx="471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Impact :</a:t>
            </a:r>
            <a:r>
              <a:rPr lang="fr-FR" dirty="0"/>
              <a:t> Biais sur le calcul de la marge globale.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B18EF27-1199-A95B-8293-731B22F33A34}"/>
              </a:ext>
            </a:extLst>
          </p:cNvPr>
          <p:cNvSpPr txBox="1"/>
          <p:nvPr/>
        </p:nvSpPr>
        <p:spPr>
          <a:xfrm>
            <a:off x="2004425" y="4135066"/>
            <a:ext cx="5564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💡 </a:t>
            </a:r>
            <a:r>
              <a:rPr lang="fr-FR" b="1" dirty="0"/>
              <a:t>Action IT :</a:t>
            </a:r>
            <a:r>
              <a:rPr lang="fr-FR" dirty="0"/>
              <a:t> Implémenter une règle de blocage ERP : Si </a:t>
            </a:r>
            <a:r>
              <a:rPr lang="fr-FR" dirty="0" err="1"/>
              <a:t>Prix_Achat</a:t>
            </a:r>
            <a:r>
              <a:rPr lang="fr-FR" dirty="0"/>
              <a:t> &gt; </a:t>
            </a:r>
            <a:r>
              <a:rPr lang="fr-FR" dirty="0" err="1"/>
              <a:t>Prix_Vente</a:t>
            </a:r>
            <a:r>
              <a:rPr lang="fr-FR" dirty="0"/>
              <a:t> = Erreur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ANOMALIE CRITIQUE N°2 : L'Intégration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Google Shape;105;g13f9e8f1567_0_7">
            <a:extLst>
              <a:ext uri="{FF2B5EF4-FFF2-40B4-BE49-F238E27FC236}">
                <a16:creationId xmlns:a16="http://schemas.microsoft.com/office/drawing/2014/main" id="{DB0FB282-D905-2998-8023-C1F1F061C89E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56FFBA-DA6D-0446-130C-9018F4737B16}"/>
              </a:ext>
            </a:extLst>
          </p:cNvPr>
          <p:cNvSpPr txBox="1"/>
          <p:nvPr/>
        </p:nvSpPr>
        <p:spPr>
          <a:xfrm>
            <a:off x="198407" y="1542784"/>
            <a:ext cx="471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Objectif :</a:t>
            </a:r>
            <a:r>
              <a:rPr lang="fr-FR" dirty="0"/>
              <a:t> Montrer le manque à gagner invisible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5CD90B9-8C7F-AA94-1EA6-5D9C73AE6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13" y="2164785"/>
            <a:ext cx="4810796" cy="150516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868FA7C-B0CF-E044-710E-5C31944ACAB9}"/>
              </a:ext>
            </a:extLst>
          </p:cNvPr>
          <p:cNvSpPr txBox="1"/>
          <p:nvPr/>
        </p:nvSpPr>
        <p:spPr>
          <a:xfrm>
            <a:off x="1651151" y="4150195"/>
            <a:ext cx="6342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💡 </a:t>
            </a:r>
            <a:r>
              <a:rPr lang="fr-FR" b="1" dirty="0"/>
              <a:t>Action Commerciale :</a:t>
            </a:r>
            <a:r>
              <a:rPr lang="fr-FR" dirty="0"/>
              <a:t> Audit mensuel des produits "Actifs mais Invisibles" pour récupérer ce CA perdu.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99B205B4-C968-75A9-9CC6-BFA8FC6F5D67}"/>
                  </a:ext>
                </a:extLst>
              </p14:cNvPr>
              <p14:cNvContentPartPr/>
              <p14:nvPr/>
            </p14:nvContentPartPr>
            <p14:xfrm>
              <a:off x="1485551" y="2357044"/>
              <a:ext cx="38160" cy="608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99B205B4-C968-75A9-9CC6-BFA8FC6F5D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9431" y="2350924"/>
                <a:ext cx="504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7815FD49-5809-3AD9-258A-13329577C2A9}"/>
                  </a:ext>
                </a:extLst>
              </p14:cNvPr>
              <p14:cNvContentPartPr/>
              <p14:nvPr/>
            </p14:nvContentPartPr>
            <p14:xfrm>
              <a:off x="1503191" y="2393044"/>
              <a:ext cx="432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7815FD49-5809-3AD9-258A-13329577C2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40191" y="2330044"/>
                <a:ext cx="12996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e 10">
            <a:extLst>
              <a:ext uri="{FF2B5EF4-FFF2-40B4-BE49-F238E27FC236}">
                <a16:creationId xmlns:a16="http://schemas.microsoft.com/office/drawing/2014/main" id="{959D179B-0799-0E30-1C18-8165C1F4D7A9}"/>
              </a:ext>
            </a:extLst>
          </p:cNvPr>
          <p:cNvGrpSpPr/>
          <p:nvPr/>
        </p:nvGrpSpPr>
        <p:grpSpPr>
          <a:xfrm>
            <a:off x="1492751" y="2507524"/>
            <a:ext cx="360" cy="50040"/>
            <a:chOff x="1492751" y="2507524"/>
            <a:chExt cx="360" cy="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0546EFD5-154D-6BC8-DBAB-D4ABA2B5A387}"/>
                    </a:ext>
                  </a:extLst>
                </p14:cNvPr>
                <p14:cNvContentPartPr/>
                <p14:nvPr/>
              </p14:nvContentPartPr>
              <p14:xfrm>
                <a:off x="1492751" y="2507524"/>
                <a:ext cx="360" cy="36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0546EFD5-154D-6BC8-DBAB-D4ABA2B5A3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30111" y="244452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25DB5D28-C4D8-C8E4-06A1-1D4B03126FD7}"/>
                    </a:ext>
                  </a:extLst>
                </p14:cNvPr>
                <p14:cNvContentPartPr/>
                <p14:nvPr/>
              </p14:nvContentPartPr>
              <p14:xfrm>
                <a:off x="1492751" y="2557204"/>
                <a:ext cx="360" cy="36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25DB5D28-C4D8-C8E4-06A1-1D4B03126F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30111" y="249456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CC72322B-FF0B-910E-DDC6-7278BC948F80}"/>
                  </a:ext>
                </a:extLst>
              </p14:cNvPr>
              <p14:cNvContentPartPr/>
              <p14:nvPr/>
            </p14:nvContentPartPr>
            <p14:xfrm>
              <a:off x="1485911" y="2678884"/>
              <a:ext cx="360" cy="36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CC72322B-FF0B-910E-DDC6-7278BC948F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2911" y="261588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5A84072D-CF54-0A4B-2B6D-76C1A3B432DF}"/>
                  </a:ext>
                </a:extLst>
              </p14:cNvPr>
              <p14:cNvContentPartPr/>
              <p14:nvPr/>
            </p14:nvContentPartPr>
            <p14:xfrm>
              <a:off x="1471151" y="2378644"/>
              <a:ext cx="360" cy="36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5A84072D-CF54-0A4B-2B6D-76C1A3B432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08511" y="231600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6CB0876B-0D92-0DC6-EC54-A782B826ADA8}"/>
                  </a:ext>
                </a:extLst>
              </p14:cNvPr>
              <p14:cNvContentPartPr/>
              <p14:nvPr/>
            </p14:nvContentPartPr>
            <p14:xfrm>
              <a:off x="321311" y="3564484"/>
              <a:ext cx="360" cy="360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6CB0876B-0D92-0DC6-EC54-A782B826AD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671" y="3501484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ANOMALIE CRITIQUE N°3 : La Gestion de Stock</a:t>
            </a:r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3E16CE-3A46-D2C5-802C-77CC14EE5321}"/>
              </a:ext>
            </a:extLst>
          </p:cNvPr>
          <p:cNvSpPr txBox="1"/>
          <p:nvPr/>
        </p:nvSpPr>
        <p:spPr>
          <a:xfrm>
            <a:off x="129396" y="1473600"/>
            <a:ext cx="471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Objectif :</a:t>
            </a:r>
            <a:r>
              <a:rPr lang="fr-FR" dirty="0"/>
              <a:t> Parler de trésorerie et d'optimisation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2A5227B-567D-43D4-83C0-D615EB97C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57" y="1926332"/>
            <a:ext cx="7375585" cy="240641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C5C0159-8934-CEC2-B679-8AD6DEECB963}"/>
              </a:ext>
            </a:extLst>
          </p:cNvPr>
          <p:cNvSpPr txBox="1"/>
          <p:nvPr/>
        </p:nvSpPr>
        <p:spPr>
          <a:xfrm>
            <a:off x="1151626" y="4416144"/>
            <a:ext cx="6840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💡 </a:t>
            </a:r>
            <a:r>
              <a:rPr lang="fr-FR" b="1" dirty="0"/>
              <a:t>Action Marketing :</a:t>
            </a:r>
            <a:r>
              <a:rPr lang="fr-FR" dirty="0"/>
              <a:t> Lancement immédiat d'une campagne de </a:t>
            </a:r>
            <a:r>
              <a:rPr lang="fr-FR" b="1" dirty="0"/>
              <a:t>Déstockage / Soldes</a:t>
            </a:r>
            <a:r>
              <a:rPr lang="fr-FR" dirty="0"/>
              <a:t> sur ces références spécifiques.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BBA0F674-D8A1-ADD7-43F6-9B1EFCB75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73DE251C-B3A6-81AE-148C-052B58027E7B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E2AEFE46-DDF7-C71A-B3E8-EE08A2979899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Analyse du Chiffre d'Affaires : Le Défi de la Dispersion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889368C9-695E-A41F-517D-4BDA8E04A3DC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B2633D3-0368-D2CB-3656-B49D28435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0182"/>
            <a:ext cx="9144000" cy="407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865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1FC2FCE1-15BB-A8AE-3C1F-B620D94D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922BC836-FBCE-23B1-1E85-258C4CBA69B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29227157-2149-6306-6289-7D1E6185159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Stratégies Opérationnelles face à la Dispersion du CA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BBDFAE53-7997-EE33-3648-059EC5991B5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B719ED-8ABE-9B33-04D9-82F0995BD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101488"/>
              </p:ext>
            </p:extLst>
          </p:nvPr>
        </p:nvGraphicFramePr>
        <p:xfrm>
          <a:off x="764381" y="1600200"/>
          <a:ext cx="7462768" cy="280034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65692">
                  <a:extLst>
                    <a:ext uri="{9D8B030D-6E8A-4147-A177-3AD203B41FA5}">
                      <a16:colId xmlns:a16="http://schemas.microsoft.com/office/drawing/2014/main" val="64721846"/>
                    </a:ext>
                  </a:extLst>
                </a:gridCol>
                <a:gridCol w="1865692">
                  <a:extLst>
                    <a:ext uri="{9D8B030D-6E8A-4147-A177-3AD203B41FA5}">
                      <a16:colId xmlns:a16="http://schemas.microsoft.com/office/drawing/2014/main" val="1749324732"/>
                    </a:ext>
                  </a:extLst>
                </a:gridCol>
                <a:gridCol w="1865692">
                  <a:extLst>
                    <a:ext uri="{9D8B030D-6E8A-4147-A177-3AD203B41FA5}">
                      <a16:colId xmlns:a16="http://schemas.microsoft.com/office/drawing/2014/main" val="843823824"/>
                    </a:ext>
                  </a:extLst>
                </a:gridCol>
                <a:gridCol w="1865692">
                  <a:extLst>
                    <a:ext uri="{9D8B030D-6E8A-4147-A177-3AD203B41FA5}">
                      <a16:colId xmlns:a16="http://schemas.microsoft.com/office/drawing/2014/main" val="1522924081"/>
                    </a:ext>
                  </a:extLst>
                </a:gridCol>
              </a:tblGrid>
              <a:tr h="671954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Groupe de Produits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Nombre (Approximation)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Poids en 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Priorité Stratégique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775809"/>
                  </a:ext>
                </a:extLst>
              </a:tr>
              <a:tr h="929299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Zone Cœur (Vital)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435</a:t>
                      </a:r>
                      <a:r>
                        <a:rPr lang="fr-FR" dirty="0">
                          <a:latin typeface="+mn-lt"/>
                        </a:rPr>
                        <a:t> articles (61%)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+mn-lt"/>
                        </a:rPr>
                        <a:t>OPTIMISATION :</a:t>
                      </a:r>
                      <a:r>
                        <a:rPr lang="fr-FR" dirty="0">
                          <a:latin typeface="+mn-lt"/>
                        </a:rPr>
                        <a:t> Maximiser la marge et éviter la rupture.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776495"/>
                  </a:ext>
                </a:extLst>
              </a:tr>
              <a:tr h="1199096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Longue Traîne Faible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≈</a:t>
                      </a:r>
                      <a:r>
                        <a:rPr lang="fr-FR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280</a:t>
                      </a:r>
                      <a:r>
                        <a:rPr lang="fr-FR" dirty="0">
                          <a:latin typeface="+mn-lt"/>
                        </a:rPr>
                        <a:t> articles (</a:t>
                      </a:r>
                      <a:r>
                        <a:rPr lang="fr-FR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39%)</a:t>
                      </a:r>
                      <a:endParaRPr lang="fr-FR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+mn-lt"/>
                        </a:rPr>
                        <a:t>20%</a:t>
                      </a:r>
                      <a:endParaRPr lang="fr-FR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+mn-lt"/>
                        </a:rPr>
                        <a:t>ÉVALUATION :</a:t>
                      </a:r>
                      <a:r>
                        <a:rPr lang="fr-FR" dirty="0">
                          <a:latin typeface="+mn-lt"/>
                        </a:rPr>
                        <a:t> Déterminer le maintien, la liquidation ou le retrait.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952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773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0A62844D-C54B-EDAB-EB2B-8EBD1254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4F4E4F9B-0F5C-1D43-D6C6-DB66C19868BF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4C954927-5C61-00EE-353E-CD288F0451FB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Levier Stratégique : Analyse de la Marge Brute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52BCC642-FD14-94C3-8A06-A00F1F26AE58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D133A47-7E18-7D69-27DE-A53FFCDEF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095464"/>
              </p:ext>
            </p:extLst>
          </p:nvPr>
        </p:nvGraphicFramePr>
        <p:xfrm>
          <a:off x="1010841" y="1664493"/>
          <a:ext cx="7122318" cy="202168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4106">
                  <a:extLst>
                    <a:ext uri="{9D8B030D-6E8A-4147-A177-3AD203B41FA5}">
                      <a16:colId xmlns:a16="http://schemas.microsoft.com/office/drawing/2014/main" val="634569643"/>
                    </a:ext>
                  </a:extLst>
                </a:gridCol>
                <a:gridCol w="2374106">
                  <a:extLst>
                    <a:ext uri="{9D8B030D-6E8A-4147-A177-3AD203B41FA5}">
                      <a16:colId xmlns:a16="http://schemas.microsoft.com/office/drawing/2014/main" val="3776691627"/>
                    </a:ext>
                  </a:extLst>
                </a:gridCol>
                <a:gridCol w="2374106">
                  <a:extLst>
                    <a:ext uri="{9D8B030D-6E8A-4147-A177-3AD203B41FA5}">
                      <a16:colId xmlns:a16="http://schemas.microsoft.com/office/drawing/2014/main" val="3157508939"/>
                    </a:ext>
                  </a:extLst>
                </a:gridCol>
              </a:tblGrid>
              <a:tr h="673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>
                          <a:effectLst/>
                          <a:latin typeface="+mn-lt"/>
                        </a:rPr>
                        <a:t>Indicateur de Marge (Catalogue Final)</a:t>
                      </a:r>
                      <a:endParaRPr lang="fr-FR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Résultat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Interprétation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396548"/>
                  </a:ext>
                </a:extLst>
              </a:tr>
              <a:tr h="673894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Taux de Marge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-297 %</a:t>
                      </a:r>
                      <a:endParaRPr lang="fr-FR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 erreurs critiques de saisie (ventes à perte) subsistent</a:t>
                      </a:r>
                      <a:endParaRPr lang="fr-FR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972696"/>
                  </a:ext>
                </a:extLst>
              </a:tr>
              <a:tr h="673894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+mn-lt"/>
                        </a:rPr>
                        <a:t>Taux de Marge 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+130 %</a:t>
                      </a:r>
                      <a:endParaRPr lang="fr-FR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Certains produits sont très rentables (Occasion à saisir).</a:t>
                      </a:r>
                      <a:endParaRPr lang="fr-FR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726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040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5C4978ED-216E-FFBC-BF24-06A8FB6A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E7E392D5-6C6E-E536-A570-72115775E7D3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0EE1E2AB-E14B-CB4E-3C65-28D8358EC689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b="1" dirty="0" err="1">
                <a:solidFill>
                  <a:schemeClr val="bg1"/>
                </a:solidFill>
              </a:rPr>
              <a:t>Boxplot</a:t>
            </a:r>
            <a:r>
              <a:rPr lang="fr-FR" sz="2800" b="1" dirty="0">
                <a:solidFill>
                  <a:schemeClr val="bg1"/>
                </a:solidFill>
              </a:rPr>
              <a:t> : Les Prix Sont-ils Logiques ?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0F676EE8-7C95-96C8-57E0-26577D925D24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F2FCB6B-AFFE-7686-4A6A-6EA25738F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924" y="1514475"/>
            <a:ext cx="4418152" cy="347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7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65DD19B-F0C9-259C-2EA5-973495AA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331375D8-138C-4AF5-7496-210494B41305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E269813D-4B96-088F-B8BF-2216CD15C632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Corrélation : Le Risque Caché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A38DB206-D8C9-08A9-FBBF-AC0865E2F00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98D58E-8612-F7D6-BB82-F238ABCD1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573" y="1390200"/>
            <a:ext cx="4230992" cy="375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B8AC2CF-219C-FE9F-E1F2-790179E9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960DF646-4795-D385-62EC-FA2C2FE494B3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B17B9553-AA9C-FC10-E996-D457986C340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RECOMMANDATION N°1 : Intégrité des Données de Coût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EB3460DB-2B81-4003-0AA9-4102F96B1FA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C01B8464-7F64-80C0-1A67-A86B26307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352812"/>
              </p:ext>
            </p:extLst>
          </p:nvPr>
        </p:nvGraphicFramePr>
        <p:xfrm>
          <a:off x="628650" y="1636713"/>
          <a:ext cx="7886700" cy="24231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4037354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191285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6225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+mn-lt"/>
                        </a:rPr>
                        <a:t>Action</a:t>
                      </a:r>
                      <a:endParaRPr lang="fr-FR">
                        <a:effectLst/>
                        <a:latin typeface="+mn-l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+mn-lt"/>
                        </a:rPr>
                        <a:t>Justification</a:t>
                      </a:r>
                      <a:endParaRPr lang="fr-FR">
                        <a:effectLst/>
                        <a:latin typeface="+mn-l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+mn-lt"/>
                        </a:rPr>
                        <a:t>Impact Opérationnel</a:t>
                      </a:r>
                      <a:endParaRPr lang="fr-FR">
                        <a:effectLst/>
                        <a:latin typeface="+mn-l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766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  <a:latin typeface="+mn-lt"/>
                        </a:rPr>
                        <a:t>Validation Automatique des Coûts (ERP)</a:t>
                      </a:r>
                      <a:endParaRPr lang="fr-FR" dirty="0">
                        <a:effectLst/>
                        <a:latin typeface="+mn-l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+mn-lt"/>
                        </a:rPr>
                        <a:t>Empêcher la saisie d'un </a:t>
                      </a:r>
                      <a:r>
                        <a:rPr lang="fr-FR" dirty="0" err="1">
                          <a:effectLst/>
                          <a:latin typeface="+mn-lt"/>
                        </a:rPr>
                        <a:t>purchase_price</a:t>
                      </a:r>
                      <a:r>
                        <a:rPr lang="fr-FR" dirty="0">
                          <a:effectLst/>
                          <a:latin typeface="+mn-lt"/>
                        </a:rPr>
                        <a:t> –&gt; </a:t>
                      </a:r>
                      <a:r>
                        <a:rPr lang="fr-FR" dirty="0" err="1">
                          <a:effectLst/>
                          <a:latin typeface="+mn-lt"/>
                        </a:rPr>
                        <a:t>price</a:t>
                      </a:r>
                      <a:r>
                        <a:rPr lang="fr-FR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+mn-lt"/>
                        </a:rPr>
                        <a:t>Élimination instantanée</a:t>
                      </a:r>
                      <a:r>
                        <a:rPr lang="fr-FR">
                          <a:effectLst/>
                          <a:latin typeface="+mn-lt"/>
                        </a:rPr>
                        <a:t> du risque de vente à perte (les 4 cas attendus).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053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  <a:latin typeface="+mn-lt"/>
                        </a:rPr>
                        <a:t>Audit des Nouveaux Produits</a:t>
                      </a:r>
                      <a:endParaRPr lang="fr-FR" dirty="0">
                        <a:effectLst/>
                        <a:latin typeface="+mn-l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+mn-lt"/>
                        </a:rPr>
                        <a:t>Vérifier la marge brute lors de l'intégration de toute nouvelle référence.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+mn-lt"/>
                        </a:rPr>
                        <a:t>Assurer que le seuil de marge minimum de 27,91% est respecté pour toute nouveauté.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377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  <a:latin typeface="+mn-lt"/>
                        </a:rPr>
                        <a:t>Indicateur de Qualité (DQ-KPI)</a:t>
                      </a:r>
                      <a:endParaRPr lang="fr-FR">
                        <a:effectLst/>
                        <a:latin typeface="+mn-l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+mn-lt"/>
                        </a:rPr>
                        <a:t>Suivre le taux de non-conformité des données price vs purchase_price.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+mn-lt"/>
                        </a:rPr>
                        <a:t>Mesurer l'efficacité des équipes de saisie et la fiabilité de l'ERP.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879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893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7B1F6C4D-842E-2DF2-4378-C6C5866B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D2F329D2-79F7-9F32-009B-BC8B537580A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FB78116D-A3CF-9D6A-CD2C-7C71977781EC}"/>
              </a:ext>
            </a:extLst>
          </p:cNvPr>
          <p:cNvSpPr txBox="1"/>
          <p:nvPr/>
        </p:nvSpPr>
        <p:spPr>
          <a:xfrm>
            <a:off x="498710" y="357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RECOMMANDATION N°2 : Séparer les Flux (Remboursements)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72BB2C8B-3121-91E1-CE5D-457212B9AC46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E42301B-0F8D-56CD-DF9F-E124CACBEBAA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789589"/>
          <a:ext cx="7886700" cy="24231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2522519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958014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30024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Justification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Impact Opérationnel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395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Création d'un Flux Dédié aux Retours/Remboursements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Séparer les ventes brutes des annulations et remboursements.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Permettre le calcul précis du </a:t>
                      </a:r>
                      <a:r>
                        <a:rPr lang="fr-FR" b="1"/>
                        <a:t>CA Net</a:t>
                      </a:r>
                      <a:r>
                        <a:rPr lang="fr-FR"/>
                        <a:t> et du </a:t>
                      </a:r>
                      <a:r>
                        <a:rPr lang="fr-FR" b="1"/>
                        <a:t>taux d'annulation</a:t>
                      </a:r>
                      <a:r>
                        <a:rPr lang="fr-F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96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Correction Rétroactive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Recoder les valeurs négatives de </a:t>
                      </a:r>
                      <a:r>
                        <a:rPr lang="fr-FR" dirty="0" err="1">
                          <a:latin typeface="Courier New" panose="02070309020205020404" pitchFamily="49" charset="0"/>
                        </a:rPr>
                        <a:t>total_sales</a:t>
                      </a:r>
                      <a:r>
                        <a:rPr lang="fr-FR" dirty="0"/>
                        <a:t> comme un flux </a:t>
                      </a:r>
                      <a:r>
                        <a:rPr lang="fr-FR" dirty="0" err="1">
                          <a:latin typeface="Courier New" panose="02070309020205020404" pitchFamily="49" charset="0"/>
                        </a:rPr>
                        <a:t>total_refunds</a:t>
                      </a:r>
                      <a:r>
                        <a:rPr lang="fr-FR" dirty="0"/>
                        <a:t> pour l'historique.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Rétablir l'intégrité de l'historique des ventes.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083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Alerte Automatique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Signaler toute transaction négative d'une valeur supérieure à un seuil défini.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Faciliter la détection des fraudes ou des erreurs logistiques massives.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01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45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B214D8F-360C-F7EA-1A0B-59BDE079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0E5A11AA-B165-4BFD-B582-357529E6921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81CB9F20-E6BD-5B68-CAEA-C5EADFB653E7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RECOMMANDATION N°3 : Pilotage Actif des Stocks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EB2BA534-F43C-F966-D689-A38EE41410F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8C07849-05F4-433A-F684-C7FDB3295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257421"/>
              </p:ext>
            </p:extLst>
          </p:nvPr>
        </p:nvGraphicFramePr>
        <p:xfrm>
          <a:off x="628650" y="1643950"/>
          <a:ext cx="7886700" cy="2956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9497044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465976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0577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Action</a:t>
                      </a:r>
                      <a:endParaRPr lang="fr-FR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Justification</a:t>
                      </a:r>
                      <a:endParaRPr lang="fr-FR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Impact Logistique</a:t>
                      </a:r>
                      <a:endParaRPr lang="fr-FR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158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Pilotage Double des 435 Réf. Cœur</a:t>
                      </a:r>
                      <a:endParaRPr lang="fr-FR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Baser le stock de sécurité et les réapprovisionnements sur le </a:t>
                      </a:r>
                      <a:r>
                        <a:rPr lang="fr-FR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 généré</a:t>
                      </a:r>
                      <a:r>
                        <a:rPr lang="fr-FR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et non seulement le volume.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Sécuriser les revenus</a:t>
                      </a:r>
                      <a:r>
                        <a:rPr lang="fr-FR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en minimisant les ruptures sur les produits les plus rentables.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02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Politique de Liquidation pour la Longue Traîne</a:t>
                      </a:r>
                      <a:endParaRPr lang="fr-FR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Analyser le </a:t>
                      </a:r>
                      <a:r>
                        <a:rPr lang="fr-FR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délai d'écoulement</a:t>
                      </a:r>
                      <a:r>
                        <a:rPr lang="fr-FR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(rotation) des </a:t>
                      </a:r>
                      <a:r>
                        <a:rPr lang="fr-FR" dirty="0">
                          <a:latin typeface="+mn-lt"/>
                        </a:rPr>
                        <a:t>≈</a:t>
                      </a:r>
                      <a:r>
                        <a:rPr lang="fr-FR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280 références les moins performantes.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Réduire les coûts de stockage et libérer du capital en déstockant les produits stagnants.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19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Optimisation des Prix (</a:t>
                      </a:r>
                      <a:r>
                        <a:rPr lang="fr-FR" b="1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Outliers</a:t>
                      </a:r>
                      <a:r>
                        <a:rPr lang="fr-FR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fr-FR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Vérifier les prix des produits identifiés comme des valeurs aberrantes.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S'assurer que les prix de luxe sont légitimes et n'entraînent pas une perception négative du rapport qualité/prix.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014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146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4D38E9D-958C-785D-3C43-850FBE9EA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CE952D9F-6C2A-27DD-9AE2-39ADB302DE8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521E92E2-772B-B63B-79E1-8BF84C992AA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Conformité RGPD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C380E3B8-2BEA-E708-2ED0-2447D8334CF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0C0098-0D5A-9832-0FE5-4B2FE839D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16" y="1653165"/>
            <a:ext cx="892392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Type de Données Analysées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L'analyse a porté exclusivement sur des données d'inventaire, de prix, de coûts et de ventes </a:t>
            </a:r>
            <a:r>
              <a:rPr lang="en-US" altLang="fr-FR" dirty="0"/>
              <a:t>(SKU, </a:t>
            </a:r>
            <a:r>
              <a:rPr lang="en-US" altLang="fr-FR" dirty="0" err="1"/>
              <a:t>product_id</a:t>
            </a:r>
            <a:r>
              <a:rPr lang="en-US" altLang="fr-FR" dirty="0"/>
              <a:t>, price, stock, </a:t>
            </a:r>
            <a:r>
              <a:rPr lang="en-US" altLang="fr-FR" dirty="0" err="1"/>
              <a:t>total_sales</a:t>
            </a:r>
            <a:r>
              <a:rPr lang="en-US" altLang="fr-FR" dirty="0"/>
              <a:t>, etc.).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Absence de Données Personnelles 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-Aucune donnée directement identifiable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relative aux clients ou employés (Nom, Adresse, Email, etc.) n'a été utilisée.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-Les transactions de ventes agrégées et les données produits sont considérées comme des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données non-personnelles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Conclusion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 périmètre de cet audit est entièrement conforme aux exigences du RGPD et ne présente aucun risque de fuite de données personnelles.</a:t>
            </a:r>
          </a:p>
        </p:txBody>
      </p:sp>
    </p:spTree>
    <p:extLst>
      <p:ext uri="{BB962C8B-B14F-4D97-AF65-F5344CB8AC3E}">
        <p14:creationId xmlns:p14="http://schemas.microsoft.com/office/powerpoint/2010/main" val="114069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C8D73C3A-56EE-5C46-B098-6F7037DA8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2F6F687E-EB5F-220D-B631-4B71F461496F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2CC4598A-84E0-1ACE-404E-263063F5DAF9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rgbClr val="000000"/>
              </a:buClr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Conclusion : Les Prochaines Étapes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F1F1EFC7-F08F-C72F-E7F3-6E7CD53EC4C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600491-A302-7486-234A-1308AA8CF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2" y="1440671"/>
            <a:ext cx="8990755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Priorité N°1 (IT)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Mise en œuvre des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validations automatiques des coûts</a:t>
            </a:r>
            <a:r>
              <a:rPr lang="fr-FR" altLang="fr-FR" dirty="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,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Bloquer la saisie de prix négatifs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Priorité N°2 (Commercial)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Lancement de la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rationalisation de la Longue Traîne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(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≈</a:t>
            </a:r>
            <a:r>
              <a:rPr lang="fr-FR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280</a:t>
            </a:r>
            <a:r>
              <a:rPr lang="fr-FR" altLang="fr-FR" dirty="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produits)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pour réduire les coûts logistiques.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Priorité N°3 (Logistique)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Mise en place du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pilotage actif des stocks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sur les 435 références Cœur.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D2F7DC-4705-1552-E0F4-E890F9CD0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695" y="3518932"/>
            <a:ext cx="2388114" cy="162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002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</TotalTime>
  <Words>1102</Words>
  <Application>Microsoft Office PowerPoint</Application>
  <PresentationFormat>Affichage à l'écran (16:9)</PresentationFormat>
  <Paragraphs>138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Courier New</vt:lpstr>
      <vt:lpstr>Calibri</vt:lpstr>
      <vt:lpstr>Arial</vt:lpstr>
      <vt:lpstr>Calibri Light</vt:lpstr>
      <vt:lpstr>Montserrat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remy daura</cp:lastModifiedBy>
  <cp:revision>36</cp:revision>
  <dcterms:modified xsi:type="dcterms:W3CDTF">2026-01-07T15:09:49Z</dcterms:modified>
</cp:coreProperties>
</file>